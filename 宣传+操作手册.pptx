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45775" cy="128016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Microsoft YaHei"/>
              </a:rPr>
              <a:t>engine_tensorflow+js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45775" cy="109728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/>
            <a:r>
              <a:rPr sz="2200" b="0" i="0">
                <a:solidFill>
                  <a:srgbClr val="9DC3FF"/>
                </a:solidFill>
                <a:latin typeface="Microsoft YaHei"/>
              </a:rPr>
              <a:t>自研引擎 · 浏览器端 · 计算与推理渲染</a:t>
            </a:r>
          </a:p>
          <a:p>
            <a:pPr algn="l">
              <a:spcBef>
                <a:spcPts val="1000"/>
              </a:spcBef>
            </a:pPr>
            <a:r>
              <a:rPr sz="1800" b="1" i="0">
                <a:solidFill>
                  <a:srgbClr val="ED7D31"/>
                </a:solidFill>
                <a:latin typeface="Microsoft YaHei"/>
              </a:rPr>
              <a:t>代码工作台 Debug 模式：边调试 · 边热加载 · 边运行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52160"/>
            <a:ext cx="10545775" cy="45720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/>
            <a:r>
              <a:rPr sz="1400" b="0" i="0">
                <a:solidFill>
                  <a:srgbClr val="AAB0BC"/>
                </a:solidFill>
                <a:latin typeface="Microsoft YaHei"/>
              </a:rPr>
              <a:t>宣传 + 操作手册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0" y="1051560"/>
            <a:ext cx="12191695" cy="580644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94415" cy="73152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icrosoft YaHei"/>
              </a:rPr>
              <a:t>一句话定位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/>
            <a:r>
              <a:rPr sz="1400" b="0" i="0">
                <a:solidFill>
                  <a:srgbClr val="5A606E"/>
                </a:solidFill>
                <a:latin typeface="Microsoft YaHei"/>
              </a:rPr>
              <a:t>C++17 引擎的全功能对等 JS 重构版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1094415" cy="512064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800" b="1" i="0">
                <a:solidFill>
                  <a:srgbClr val="4472C4"/>
                </a:solidFill>
                <a:latin typeface="Microsoft YaHei"/>
              </a:rPr>
              <a:t>• 渲染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2262E"/>
                </a:solidFill>
                <a:latin typeface="Microsoft YaHei"/>
              </a:rPr>
              <a:t>    自研引擎：WebGPU(L3) → WebGL2(L1/L2) → Software(L0 黄金参考) 三级后端，无需 three.js。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800" b="1" i="0">
                <a:solidFill>
                  <a:srgbClr val="4472C4"/>
                </a:solidFill>
                <a:latin typeface="Microsoft YaHei"/>
              </a:rPr>
              <a:t>• 计算推理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2262E"/>
                </a:solidFill>
                <a:latin typeface="Microsoft YaHei"/>
              </a:rPr>
              <a:t>    TensorFlow.js 浏览器端推理（神经材质 / DDGI 去噪 / 超分 / AI 策略）；缺失时降级内置 NanoTensor。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800" b="1" i="0">
                <a:solidFill>
                  <a:srgbClr val="4472C4"/>
                </a:solidFill>
                <a:latin typeface="Microsoft YaHei"/>
              </a:rPr>
              <a:t>• 编辑器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2262E"/>
                </a:solidFill>
                <a:latin typeface="Microsoft YaHei"/>
              </a:rPr>
              <a:t>    Web 版 IDE（原生 DOM，无框架、无构建步骤），功能对等 python/ide。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800" b="1" i="0">
                <a:solidFill>
                  <a:srgbClr val="4472C4"/>
                </a:solidFill>
                <a:latin typeface="Microsoft YaHei"/>
              </a:rPr>
              <a:t>• 游戏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2262E"/>
                </a:solidFill>
                <a:latin typeface="Microsoft YaHei"/>
              </a:rPr>
              <a:t>    games/ 下 Breakout / Space Shooter / Match3 / Action3D 浏览器直接运行。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0" y="1051560"/>
            <a:ext cx="12191695" cy="580644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94415" cy="73152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icrosoft YaHei"/>
              </a:rPr>
              <a:t>编辑器核心能力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/>
            <a:r>
              <a:rPr sz="1400" b="0" i="0">
                <a:solidFill>
                  <a:srgbClr val="5A606E"/>
                </a:solidFill>
                <a:latin typeface="Microsoft YaHei"/>
              </a:rPr>
              <a:t>原生 DOM 实现，红线 D/E/F 全部遵守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1094415" cy="512064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1600" b="0" i="0">
                <a:solidFill>
                  <a:srgbClr val="22262E"/>
                </a:solidFill>
                <a:latin typeface="Microsoft YaHei"/>
              </a:rPr>
              <a:t>• 3D 视窗：相机轨道/平移、多选、Gizmo 平移-旋转-缩放、吸附步进、撤销/重做、聚焦、AABB 拾取。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1600" b="0" i="0">
                <a:solidFill>
                  <a:srgbClr val="22262E"/>
                </a:solidFill>
                <a:latin typeface="Microsoft YaHei"/>
              </a:rPr>
              <a:t>• 层级 / 检视器：组件注册表驱动，PBR 参数、灯光、ECS、碰撞体等可编辑。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1600" b="0" i="0">
                <a:solidFill>
                  <a:srgbClr val="22262E"/>
                </a:solidFill>
                <a:latin typeface="Microsoft YaHei"/>
              </a:rPr>
              <a:t>• 时间轴：关键帧动画、轨道、播放/停止/拖拽。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1600" b="0" i="0">
                <a:solidFill>
                  <a:srgbClr val="22262E"/>
                </a:solidFill>
                <a:latin typeface="Microsoft YaHei"/>
              </a:rPr>
              <a:t>• 代码工作台：自研语法高亮 + 文件树 + OPFS 持久化 + Web Worker 语法校验。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1600" b="0" i="0">
                <a:solidFill>
                  <a:srgbClr val="22262E"/>
                </a:solidFill>
                <a:latin typeface="Microsoft YaHei"/>
              </a:rPr>
              <a:t>• Profiler：分段计时 / drawCalls / 内存 / 帧时间线可视化（60/30fps 参考线）。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1600" b="0" i="0">
                <a:solidFill>
                  <a:srgbClr val="22262E"/>
                </a:solidFill>
                <a:latin typeface="Microsoft YaHei"/>
              </a:rPr>
              <a:t>• Play 模式：场景深拷贝快照运行，停止即回滚，编辑态零污染（红线 F）。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0" y="1051560"/>
            <a:ext cx="12191695" cy="580644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94415" cy="73152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icrosoft YaHei"/>
              </a:rPr>
              <a:t>Debug 模式：边调试 · 边热加载 · 边运行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/>
            <a:r>
              <a:rPr sz="1400" b="0" i="0">
                <a:solidFill>
                  <a:srgbClr val="5A606E"/>
                </a:solidFill>
                <a:latin typeface="Microsoft YaHei"/>
              </a:rPr>
              <a:t>你改代码，游戏不重启，立即看到效果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1094415" cy="512064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800" b="1" i="0">
                <a:solidFill>
                  <a:srgbClr val="4472C4"/>
                </a:solidFill>
                <a:latin typeface="Microsoft YaHei"/>
              </a:rPr>
              <a:t>• 边运行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2262E"/>
                </a:solidFill>
                <a:latin typeface="Microsoft YaHei"/>
              </a:rPr>
              <a:t>    点 ▶Run（Ctrl+P）进入 Play，游戏在独立快照上实时运行。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800" b="1" i="0">
                <a:solidFill>
                  <a:srgbClr val="4472C4"/>
                </a:solidFill>
                <a:latin typeface="Microsoft YaHei"/>
              </a:rPr>
              <a:t>• 边调试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2262E"/>
                </a:solidFill>
                <a:latin typeface="Microsoft YaHei"/>
              </a:rPr>
              <a:t>    代码工作台底部工具条：⏸暂停/▶继续、⏭单步（精确 1/60s 一帧）、🔄热重载；实时面板显示每个实体 pos(x,y,z) 与脚本日志。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800" b="1" i="0">
                <a:solidFill>
                  <a:srgbClr val="4472C4"/>
                </a:solidFill>
                <a:latin typeface="Microsoft YaHei"/>
              </a:rPr>
              <a:t>• 边热加载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2262E"/>
                </a:solidFill>
                <a:latin typeface="Microsoft YaHei"/>
              </a:rPr>
              <a:t>    运行中改脚本按 Ctrl+S → 新代码立即热加载进运行会话（不停止游戏），并写回编辑器对象脚本（下次 Play 也生效）。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800" b="1" i="0">
                <a:solidFill>
                  <a:srgbClr val="4472C4"/>
                </a:solidFill>
                <a:latin typeface="Microsoft YaHei"/>
              </a:rPr>
              <a:t>• 安全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2262E"/>
                </a:solidFill>
                <a:latin typeface="Microsoft YaHei"/>
              </a:rPr>
              <a:t>    语法错误被拦截并提示，旧脚本继续运行不中断；单脚本异常被隔离，不影响其它脚本与编辑数据。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0" y="1051560"/>
            <a:ext cx="12191695" cy="580644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94415" cy="73152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icrosoft YaHei"/>
              </a:rPr>
              <a:t>操作手册：5 步上手 Debug 模式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/>
            <a:r>
              <a:rPr sz="1400" b="0" i="0">
                <a:solidFill>
                  <a:srgbClr val="5A606E"/>
                </a:solidFill>
                <a:latin typeface="Microsoft YaHei"/>
              </a:rPr>
              <a:t>从零跑通「边调试边热加载边运行」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1094415" cy="512064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>
              <a:spcBef>
                <a:spcPts val="900"/>
              </a:spcBef>
              <a:spcAft>
                <a:spcPts val="900"/>
              </a:spcAft>
            </a:pPr>
            <a:r>
              <a:rPr sz="1500" b="0" i="0">
                <a:solidFill>
                  <a:srgbClr val="22262E"/>
                </a:solidFill>
                <a:latin typeface="Microsoft YaHei"/>
              </a:rPr>
              <a:t>• 1) 启动：node serve.mjs → 浏览器打开 http://localhost:8080/ 进入 src/editor。</a:t>
            </a:r>
          </a:p>
          <a:p>
            <a:pPr algn="l">
              <a:spcBef>
                <a:spcPts val="900"/>
              </a:spcBef>
              <a:spcAft>
                <a:spcPts val="900"/>
              </a:spcAft>
            </a:pPr>
            <a:r>
              <a:rPr sz="1500" b="0" i="0">
                <a:solidFill>
                  <a:srgbClr val="22262E"/>
                </a:solidFill>
                <a:latin typeface="Microsoft YaHei"/>
              </a:rPr>
              <a:t>• 2) 进入 Play：点工具栏「Play 模式」按钮（或按 Ctrl+P），状态栏显示「Play 模式」。</a:t>
            </a:r>
          </a:p>
          <a:p>
            <a:pPr algn="l">
              <a:spcBef>
                <a:spcPts val="900"/>
              </a:spcBef>
              <a:spcAft>
                <a:spcPts val="900"/>
              </a:spcAft>
            </a:pPr>
            <a:r>
              <a:rPr sz="1500" b="0" i="0">
                <a:solidFill>
                  <a:srgbClr val="22262E"/>
                </a:solidFill>
                <a:latin typeface="Microsoft YaHei"/>
              </a:rPr>
              <a:t>• 3) 打开代码工作台：点工具栏「代码工作台」按钮，默认打开 scripts/cube.js。</a:t>
            </a:r>
          </a:p>
          <a:p>
            <a:pPr algn="l">
              <a:spcBef>
                <a:spcPts val="900"/>
              </a:spcBef>
              <a:spcAft>
                <a:spcPts val="900"/>
              </a:spcAft>
            </a:pPr>
            <a:r>
              <a:rPr sz="1500" b="0" i="0">
                <a:solidFill>
                  <a:srgbClr val="22262E"/>
                </a:solidFill>
                <a:latin typeface="Microsoft YaHei"/>
              </a:rPr>
              <a:t>• 4) 热加载：把 this.move(0.5*dt,0,0) 改成别的逻辑，按 Ctrl+S → 游戏立即按新脚本运行。</a:t>
            </a:r>
          </a:p>
          <a:p>
            <a:pPr algn="l">
              <a:spcBef>
                <a:spcPts val="900"/>
              </a:spcBef>
              <a:spcAft>
                <a:spcPts val="900"/>
              </a:spcAft>
            </a:pPr>
            <a:r>
              <a:rPr sz="1500" b="0" i="0">
                <a:solidFill>
                  <a:srgbClr val="22262E"/>
                </a:solidFill>
                <a:latin typeface="Microsoft YaHei"/>
              </a:rPr>
              <a:t>• 5) 调试：用 ⏸暂停 冻结画面，⏭单步 逐帧观察实体坐标变化，🔄热重载 重新载入当前脚本；脚本里用 this.log(...) 输出日志到面板。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0" y="1051560"/>
            <a:ext cx="12191695" cy="580644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94415" cy="73152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icrosoft YaHei"/>
              </a:rPr>
              <a:t>操作手册：脚本 API 速查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/>
            <a:r>
              <a:rPr sz="1400" b="0" i="0">
                <a:solidFill>
                  <a:srgbClr val="5A606E"/>
                </a:solidFill>
                <a:latin typeface="Microsoft YaHei"/>
              </a:rPr>
              <a:t>在脚本内以 this 调用；可用 dt(帧时长) 与 input(按键/鼠标)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1094415" cy="512064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500" b="1" i="0">
                <a:solidFill>
                  <a:srgbClr val="4472C4"/>
                </a:solidFill>
                <a:latin typeface="Microsoft YaHei"/>
              </a:rPr>
              <a:t>• 移动/旋转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22262E"/>
                </a:solidFill>
                <a:latin typeface="Microsoft YaHei"/>
              </a:rPr>
              <a:t>    this.move(dx,dy,dz) · this.rotate(rx,ry,rz) · this.setPosition(x,y,z) · this.setRotation(x,y,z)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500" b="1" i="0">
                <a:solidFill>
                  <a:srgbClr val="4472C4"/>
                </a:solidFill>
                <a:latin typeface="Microsoft YaHei"/>
              </a:rPr>
              <a:t>• 读取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22262E"/>
                </a:solidFill>
                <a:latin typeface="Microsoft YaHei"/>
              </a:rPr>
              <a:t>    this.position / this.rotation / this.scale（数组）· this.time（运行时累计秒）。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500" b="1" i="0">
                <a:solidFill>
                  <a:srgbClr val="4472C4"/>
                </a:solidFill>
                <a:latin typeface="Microsoft YaHei"/>
              </a:rPr>
              <a:t>• 日志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22262E"/>
                </a:solidFill>
                <a:latin typeface="Microsoft YaHei"/>
              </a:rPr>
              <a:t>    this.log(msg) → 输出到代码工作台「脚本日志」面板，便于边运行边观察。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500" b="1" i="0">
                <a:solidFill>
                  <a:srgbClr val="4472C4"/>
                </a:solidFill>
                <a:latin typeface="Microsoft YaHei"/>
              </a:rPr>
              <a:t>• 文件约定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22262E"/>
                </a:solidFill>
                <a:latin typeface="Microsoft YaHei"/>
              </a:rPr>
              <a:t>    scripts/&lt;对象名&gt;[#槽位].js 对应同名对象的脚本槽位，如 scripts/cube.js；多脚本用 #0/#1。空槽位热加载会自动新增首个脚本。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500" b="1" i="0">
                <a:solidFill>
                  <a:srgbClr val="4472C4"/>
                </a:solidFill>
                <a:latin typeface="Microsoft YaHei"/>
              </a:rPr>
              <a:t>• 示例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22262E"/>
                </a:solidFill>
                <a:latin typeface="Microsoft YaHei"/>
              </a:rPr>
              <a:t>    this.move(0.5*dt, 0, 0);  // 每帧沿 x 移动；dt 让速度与时长无关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0" y="1051560"/>
            <a:ext cx="12191695" cy="580644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94415" cy="73152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icrosoft YaHei"/>
              </a:rPr>
              <a:t>架构红线：计算 100% 浏览器内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/>
            <a:r>
              <a:rPr sz="1400" b="0" i="0">
                <a:solidFill>
                  <a:srgbClr val="5A606E"/>
                </a:solidFill>
                <a:latin typeface="Microsoft YaHei"/>
              </a:rPr>
              <a:t>性能与正确性可证，运行不依赖外部服务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1094415" cy="512064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800" b="1" i="0">
                <a:solidFill>
                  <a:srgbClr val="4472C4"/>
                </a:solidFill>
                <a:latin typeface="Microsoft YaHei"/>
              </a:rPr>
              <a:t>• D. CPU 参考先行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2262E"/>
                </a:solidFill>
                <a:latin typeface="Microsoft YaHei"/>
              </a:rPr>
              <a:t>    任何 GPU 路径先有 CPU 参考，Software 为黄金基准，永不下线。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800" b="1" i="0">
                <a:solidFill>
                  <a:srgbClr val="4472C4"/>
                </a:solidFill>
                <a:latin typeface="Microsoft YaHei"/>
              </a:rPr>
              <a:t>• E. 可选层缺失即降级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2262E"/>
                </a:solidFill>
                <a:latin typeface="Microsoft YaHei"/>
              </a:rPr>
              <a:t>    WebGPU / WebGL2 / TF.js / Worker 全部可选；缺失时自动回退不崩溃。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800" b="1" i="0">
                <a:solidFill>
                  <a:srgbClr val="4472C4"/>
                </a:solidFill>
                <a:latin typeface="Microsoft YaHei"/>
              </a:rPr>
              <a:t>• F. 编辑器→运行时单向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2262E"/>
                </a:solidFill>
                <a:latin typeface="Microsoft YaHei"/>
              </a:rPr>
              <a:t>    运行时绝不反向改写编辑场景；Play 停止即丢弃快照，编辑态原封不动。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800" b="1" i="0">
                <a:solidFill>
                  <a:srgbClr val="4472C4"/>
                </a:solidFill>
                <a:latin typeface="Microsoft YaHei"/>
              </a:rPr>
              <a:t>• 快照隔离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2262E"/>
                </a:solidFill>
                <a:latin typeface="Microsoft YaHei"/>
              </a:rPr>
              <a:t>    Play 进入时对 Scene3D 做序列化往返深拷贝，物理只回写运行时实体表。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800" b="1" i="0">
                <a:solidFill>
                  <a:srgbClr val="4472C4"/>
                </a:solidFill>
                <a:latin typeface="Microsoft YaHei"/>
              </a:rPr>
              <a:t>• Worker 化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2262E"/>
                </a:solidFill>
                <a:latin typeface="Microsoft YaHei"/>
              </a:rPr>
              <a:t>    脚本语法校验在后台线程，不阻塞主线程交互。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0" y="1051560"/>
            <a:ext cx="12191695" cy="580644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94415" cy="73152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icrosoft YaHei"/>
              </a:rPr>
              <a:t>快速开始 &amp; 验收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/>
            <a:r>
              <a:rPr sz="1400" b="0" i="0">
                <a:solidFill>
                  <a:srgbClr val="5A606E"/>
                </a:solidFill>
                <a:latin typeface="Microsoft YaHei"/>
              </a:rPr>
              <a:t>开箱即用，零外部依赖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1094415" cy="512064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>
              <a:spcBef>
                <a:spcPts val="900"/>
              </a:spcBef>
              <a:spcAft>
                <a:spcPts val="200"/>
              </a:spcAft>
            </a:pPr>
            <a:r>
              <a:rPr sz="1600" b="1" i="0">
                <a:solidFill>
                  <a:srgbClr val="4472C4"/>
                </a:solidFill>
                <a:latin typeface="Microsoft YaHei"/>
              </a:rPr>
              <a:t>• 运行</a:t>
            </a:r>
          </a:p>
          <a:p>
            <a:pPr algn="l">
              <a:spcAft>
                <a:spcPts val="900"/>
              </a:spcAft>
            </a:pPr>
            <a:r>
              <a:rPr sz="1300" b="0" i="0">
                <a:solidFill>
                  <a:srgbClr val="22262E"/>
                </a:solidFill>
                <a:latin typeface="Microsoft YaHei"/>
              </a:rPr>
              <a:t>    node serve.mjs （或 python -m http.server 8080）。</a:t>
            </a:r>
          </a:p>
          <a:p>
            <a:pPr algn="l">
              <a:spcBef>
                <a:spcPts val="900"/>
              </a:spcBef>
              <a:spcAft>
                <a:spcPts val="200"/>
              </a:spcAft>
            </a:pPr>
            <a:r>
              <a:rPr sz="1600" b="1" i="0">
                <a:solidFill>
                  <a:srgbClr val="4472C4"/>
                </a:solidFill>
                <a:latin typeface="Microsoft YaHei"/>
              </a:rPr>
              <a:t>• 验收</a:t>
            </a:r>
          </a:p>
          <a:p>
            <a:pPr algn="l">
              <a:spcAft>
                <a:spcPts val="900"/>
              </a:spcAft>
            </a:pPr>
            <a:r>
              <a:rPr sz="1300" b="0" i="0">
                <a:solidFill>
                  <a:srgbClr val="22262E"/>
                </a:solidFill>
                <a:latin typeface="Microsoft YaHei"/>
              </a:rPr>
              <a:t>    node tools/run_smoke.js —— 全量 smoke 必须全绿（含 debug_mode / script_compiler / file_system / profiler_timeline）。</a:t>
            </a:r>
          </a:p>
          <a:p>
            <a:pPr algn="l">
              <a:spcBef>
                <a:spcPts val="900"/>
              </a:spcBef>
              <a:spcAft>
                <a:spcPts val="200"/>
              </a:spcAft>
            </a:pPr>
            <a:r>
              <a:rPr sz="1600" b="1" i="0">
                <a:solidFill>
                  <a:srgbClr val="4472C4"/>
                </a:solidFill>
                <a:latin typeface="Microsoft YaHei"/>
              </a:rPr>
              <a:t>• 文档</a:t>
            </a:r>
          </a:p>
          <a:p>
            <a:pPr algn="l">
              <a:spcAft>
                <a:spcPts val="900"/>
              </a:spcAft>
            </a:pPr>
            <a:r>
              <a:rPr sz="1300" b="0" i="0">
                <a:solidFill>
                  <a:srgbClr val="22262E"/>
                </a:solidFill>
                <a:latin typeface="Microsoft YaHei"/>
              </a:rPr>
              <a:t>    README.md（含 Debug 模式章节）· CONTRACT.md（并行开发唯一事实来源）· docs/PORTING.md（C++→JS 映射）。</a:t>
            </a:r>
          </a:p>
          <a:p>
            <a:pPr algn="l">
              <a:spcBef>
                <a:spcPts val="900"/>
              </a:spcBef>
              <a:spcAft>
                <a:spcPts val="200"/>
              </a:spcAft>
            </a:pPr>
            <a:r>
              <a:rPr sz="1600" b="1" i="0">
                <a:solidFill>
                  <a:srgbClr val="4472C4"/>
                </a:solidFill>
                <a:latin typeface="Microsoft YaHei"/>
              </a:rPr>
              <a:t>• 配套脚本</a:t>
            </a:r>
          </a:p>
          <a:p>
            <a:pPr algn="l">
              <a:spcAft>
                <a:spcPts val="900"/>
              </a:spcAft>
            </a:pPr>
            <a:r>
              <a:rPr sz="1300" b="0" i="0">
                <a:solidFill>
                  <a:srgbClr val="22262E"/>
                </a:solidFill>
                <a:latin typeface="Microsoft YaHei"/>
              </a:rPr>
              <a:t>    tools/make_manual_pptx.py 可重新生成本手册。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1051560"/>
            <a:ext cx="12191695" cy="580644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94415" cy="73152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</a:rPr>
              <a:t>Debug 工作流：暂停 → 改脚本 → Ctrl+S → 游戏中变化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3707" y="2011680"/>
            <a:ext cx="2468880" cy="1371600"/>
          </a:xfrm>
          <a:prstGeom prst="roundRect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⏸ 暂停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Microsoft YaHei"/>
              </a:rPr>
              <a:t>（或边运行）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18307" y="2532888"/>
            <a:ext cx="411480" cy="329184"/>
          </a:xfrm>
          <a:prstGeom prst="rightArrow">
            <a:avLst/>
          </a:prstGeom>
          <a:solidFill>
            <a:srgbClr val="5A6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75507" y="2011680"/>
            <a:ext cx="2468880" cy="1371600"/>
          </a:xfrm>
          <a:prstGeom prst="roundRect">
            <a:avLst/>
          </a:prstGeom>
          <a:solidFill>
            <a:srgbClr val="ED7D3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✎ 改脚本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Microsoft YaHei"/>
              </a:rPr>
              <a:t>代码工作台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90107" y="2532888"/>
            <a:ext cx="411480" cy="329184"/>
          </a:xfrm>
          <a:prstGeom prst="rightArrow">
            <a:avLst/>
          </a:prstGeom>
          <a:solidFill>
            <a:srgbClr val="5A6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47307" y="2011680"/>
            <a:ext cx="2468880" cy="1371600"/>
          </a:xfrm>
          <a:prstGeom prst="roundRect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Ctrl+S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Microsoft YaHei"/>
              </a:rPr>
              <a:t>热加载到运行会话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61907" y="2532888"/>
            <a:ext cx="411480" cy="329184"/>
          </a:xfrm>
          <a:prstGeom prst="rightArrow">
            <a:avLst/>
          </a:prstGeom>
          <a:solidFill>
            <a:srgbClr val="5A6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319107" y="2011680"/>
            <a:ext cx="2468880" cy="1371600"/>
          </a:xfrm>
          <a:prstGeom prst="roundRect">
            <a:avLst/>
          </a:prstGeom>
          <a:solidFill>
            <a:srgbClr val="ED7D3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▶ 游戏中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Microsoft YaHei"/>
              </a:rPr>
              <a:t>实时生效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40480"/>
            <a:ext cx="10728655" cy="45720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/>
            <a:r>
              <a:rPr sz="1500" b="1" i="0">
                <a:solidFill>
                  <a:srgbClr val="22262E"/>
                </a:solidFill>
                <a:latin typeface="Microsoft YaHei"/>
              </a:rPr>
              <a:t>一句话流程：游戏不停，改完即见。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97680"/>
            <a:ext cx="11094415" cy="2194560"/>
          </a:xfrm>
          <a:prstGeom prst="rect">
            <a:avLst/>
          </a:prstGeom>
          <a:noFill/>
        </p:spPr>
        <p:txBody>
          <a:bodyPr wrap="square" anchor="t" tIns="36576" bIns="36576">
            <a:spAutoFit/>
          </a:bodyPr>
          <a:lstStyle/>
          <a:p>
            <a:pPr algn="l">
              <a:spcBef>
                <a:spcPts val="700"/>
              </a:spcBef>
              <a:spcAft>
                <a:spcPts val="700"/>
              </a:spcAft>
            </a:pPr>
            <a:r>
              <a:rPr sz="1400" b="0" i="0">
                <a:solidFill>
                  <a:srgbClr val="22262E"/>
                </a:solidFill>
                <a:latin typeface="Microsoft YaHei"/>
              </a:rPr>
              <a:t>• 1) 进入 Play（Ctrl+P）后，点 ⏸暂停 冻结画面（也可边运行边改）。</a:t>
            </a:r>
          </a:p>
          <a:p>
            <a:pPr algn="l">
              <a:spcBef>
                <a:spcPts val="700"/>
              </a:spcBef>
              <a:spcAft>
                <a:spcPts val="700"/>
              </a:spcAft>
            </a:pPr>
            <a:r>
              <a:rPr sz="1400" b="0" i="0">
                <a:solidFill>
                  <a:srgbClr val="22262E"/>
                </a:solidFill>
                <a:latin typeface="Microsoft YaHei"/>
              </a:rPr>
              <a:t>• 2) 在代码工作台（或检视器脚本卡）编辑对象脚本。</a:t>
            </a:r>
          </a:p>
          <a:p>
            <a:pPr algn="l">
              <a:spcBef>
                <a:spcPts val="700"/>
              </a:spcBef>
              <a:spcAft>
                <a:spcPts val="700"/>
              </a:spcAft>
            </a:pPr>
            <a:r>
              <a:rPr sz="1400" b="0" i="0">
                <a:solidFill>
                  <a:srgbClr val="22262E"/>
                </a:solidFill>
                <a:latin typeface="Microsoft YaHei"/>
              </a:rPr>
              <a:t>• 3) 按 Ctrl+S：新代码立即热加载进运行会话，不重启游戏；语法错误被拦截，旧脚本继续跑。</a:t>
            </a:r>
          </a:p>
          <a:p>
            <a:pPr algn="l">
              <a:spcBef>
                <a:spcPts val="700"/>
              </a:spcBef>
              <a:spcAft>
                <a:spcPts val="700"/>
              </a:spcAft>
            </a:pPr>
            <a:r>
              <a:rPr sz="1400" b="0" i="0">
                <a:solidFill>
                  <a:srgbClr val="22262E"/>
                </a:solidFill>
                <a:latin typeface="Microsoft YaHei"/>
              </a:rPr>
              <a:t>• 4) 切回 ▶继续 或单步观察：实体状态、this.log 日志、监视表达式实时刷新。</a:t>
            </a:r>
          </a:p>
          <a:p>
            <a:pPr algn="l">
              <a:spcBef>
                <a:spcPts val="700"/>
              </a:spcBef>
              <a:spcAft>
                <a:spcPts val="700"/>
              </a:spcAft>
            </a:pPr>
            <a:r>
              <a:rPr sz="1400" b="0" i="0">
                <a:solidFill>
                  <a:srgbClr val="22262E"/>
                </a:solidFill>
                <a:latin typeface="Microsoft YaHei"/>
              </a:rPr>
              <a:t>• 进阶：脚本内 this.breakpoint() 命中点自动暂停；⏭单步 逐帧观察；实时面板显示每个实体 pos 与脚本输出。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