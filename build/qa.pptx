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3063240"/>
            <a:ext cx="1920240" cy="658368"/>
          </a:xfrm>
          <a:prstGeom prst="parallelogram">
            <a:avLst/>
          </a:prstGeom>
          <a:solidFill>
            <a:srgbClr val="35D6FF">
              <a:alpha val="38000"/>
            </a:srgbClr>
          </a:solidFill>
          <a:ln w="15875">
            <a:solidFill>
              <a:srgbClr val="35D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2514600"/>
            <a:ext cx="1920240" cy="658368"/>
          </a:xfrm>
          <a:prstGeom prst="parallelogram">
            <a:avLst/>
          </a:prstGeom>
          <a:solidFill>
            <a:srgbClr val="3BE08F">
              <a:alpha val="38000"/>
            </a:srgbClr>
          </a:solidFill>
          <a:ln w="15875">
            <a:solidFill>
              <a:srgbClr val="3BE0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1965960"/>
            <a:ext cx="1920240" cy="658368"/>
          </a:xfrm>
          <a:prstGeom prst="parallelogram">
            <a:avLst/>
          </a:prstGeom>
          <a:solidFill>
            <a:srgbClr val="FFC24B">
              <a:alpha val="45000"/>
            </a:srgbClr>
          </a:solidFill>
          <a:ln w="15875">
            <a:solidFill>
              <a:srgbClr val="FFC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9320" y="3785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/ EDITOR / CORE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589520" y="256032"/>
            <a:ext cx="1005840" cy="841248"/>
          </a:xfrm>
          <a:prstGeom prst="triangle">
            <a:avLst/>
          </a:prstGeom>
          <a:ln w="19050">
            <a:solidFill>
              <a:srgbClr val="35D6FF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7576" y="182880"/>
            <a:ext cx="100584" cy="100584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34656" y="1042416"/>
            <a:ext cx="91440" cy="91440"/>
          </a:xfrm>
          <a:prstGeom prst="ellipse">
            <a:avLst/>
          </a:prstGeom>
          <a:solidFill>
            <a:srgbClr val="35D6FF"/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0496" y="1042416"/>
            <a:ext cx="91440" cy="91440"/>
          </a:xfrm>
          <a:prstGeom prst="ellipse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315968"/>
            <a:ext cx="0" cy="0"/>
          </a:xfrm>
          <a:prstGeom prst="line">
            <a:avLst/>
          </a:prstGeom>
          <a:noFill/>
          <a:ln w="12700">
            <a:solidFill>
              <a:srgbClr val="0B15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316882"/>
            <a:ext cx="0" cy="0"/>
          </a:xfrm>
          <a:prstGeom prst="line">
            <a:avLst/>
          </a:prstGeom>
          <a:noFill/>
          <a:ln w="12700">
            <a:solidFill>
              <a:srgbClr val="0B15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17797"/>
            <a:ext cx="0" cy="0"/>
          </a:xfrm>
          <a:prstGeom prst="line">
            <a:avLst/>
          </a:prstGeom>
          <a:noFill/>
          <a:ln w="12700">
            <a:solidFill>
              <a:srgbClr val="0B15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318711"/>
            <a:ext cx="0" cy="0"/>
          </a:xfrm>
          <a:prstGeom prst="line">
            <a:avLst/>
          </a:prstGeom>
          <a:noFill/>
          <a:ln w="12700">
            <a:solidFill>
              <a:srgbClr val="0B15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319626"/>
            <a:ext cx="0" cy="0"/>
          </a:xfrm>
          <a:prstGeom prst="line">
            <a:avLst/>
          </a:prstGeom>
          <a:noFill/>
          <a:ln w="12700">
            <a:solidFill>
              <a:srgbClr val="0B15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95728"/>
            <a:ext cx="2148840" cy="274320"/>
          </a:xfrm>
          <a:prstGeom prst="roundRect">
            <a:avLst>
              <a:gd name="adj" fmla="val 16667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3957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/ WebGPU 双后端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52928" y="239572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239572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零后端算力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50208" y="239572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68496" y="2395728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零运行时依赖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30368" y="239572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48656" y="23957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ES2022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GAME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1234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取代 Three.js 的真正游戏引擎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66928" y="2029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浏览器端独立运行完整 3D 游戏 · 对标 Unity6 浏览器端能力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114800"/>
            <a:ext cx="8010144" cy="0"/>
          </a:xfrm>
          <a:prstGeom prst="line">
            <a:avLst/>
          </a:prstGeom>
          <a:noFill/>
          <a:ln w="12700">
            <a:solidFill>
              <a:srgbClr val="1C33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项目代号 Browser Game Engine</a:t>
            </a:r>
            <a:pPr indent="0" marL="0">
              <a:buNone/>
            </a:pPr>
            <a:r>
              <a:rPr lang="en-US" sz="1100" dirty="0">
                <a:solidFill>
                  <a:srgbClr val="1C33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</a:t>
            </a:r>
            <a:pPr indent="0" marL="0">
              <a:buNone/>
            </a:pPr>
            <a:r>
              <a:rPr lang="en-US" sz="1100" dirty="0">
                <a:solidFill>
                  <a:srgbClr val="1C33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Roadmap</a:t>
            </a:r>
            <a:pPr indent="0" marL="0">
              <a:buNone/>
            </a:pPr>
            <a:r>
              <a:rPr lang="en-US" sz="1100" dirty="0">
                <a:solidFill>
                  <a:srgbClr val="1C33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indent="0" marL="0">
              <a:buNone/>
            </a:pPr>
            <a:r>
              <a:rPr lang="en-US" sz="1100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 + 操作手册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/ 市场空白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是渲染库，Unity 依赖后端，Godot Web 受限 —— 「打开浏览器就能做游戏」的位置仍然空着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977640" cy="3456432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17830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DECEC"/>
          </a:solidFill>
          <a:ln w="9525">
            <a:solidFill>
              <a:srgbClr val="FF7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83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是渲染库，不是游戏引擎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无物理 / 无音频 / 无编辑器 / 无协作 / 无导出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5146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DECEC"/>
          </a:solidFill>
          <a:ln w="9525">
            <a:solidFill>
              <a:srgbClr val="FF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/ Unreal 需要后端服务器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无法纯浏览器部署，打包链路重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32461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DECEC"/>
          </a:solidFill>
          <a:ln w="9525">
            <a:solidFill>
              <a:srgbClr val="FF7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Web 版本性能受限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+ WebGL1，体积与启动慢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9776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DECEC"/>
          </a:solidFill>
          <a:ln w="9525">
            <a:solidFill>
              <a:srgbClr val="FF7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977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 / 原型 / 轻量游戏缺工具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" y="4206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没有「打开浏览器就能做游戏」的选项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1298448"/>
            <a:ext cx="4069080" cy="3456432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四象限定位图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920" y="1874520"/>
            <a:ext cx="3154680" cy="2286000"/>
          </a:xfrm>
          <a:prstGeom prst="rect">
            <a:avLst/>
          </a:prstGeom>
          <a:solidFill>
            <a:srgbClr val="FAFCFE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52260" y="1874520"/>
            <a:ext cx="0" cy="228600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3017520"/>
            <a:ext cx="315468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4178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浏览器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0" y="41788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→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66360" y="1947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完整引擎 ↑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23760" y="3904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渲染库 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69864" y="3575304"/>
            <a:ext cx="164592" cy="164592"/>
          </a:xfrm>
          <a:prstGeom prst="ellipse">
            <a:avLst/>
          </a:prstGeom>
          <a:solidFill>
            <a:srgbClr val="5C6B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52744" y="2505456"/>
            <a:ext cx="164592" cy="164592"/>
          </a:xfrm>
          <a:prstGeom prst="ellipse">
            <a:avLst/>
          </a:prstGeom>
          <a:solidFill>
            <a:srgbClr val="5C6B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Godot Web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07224" y="2359152"/>
            <a:ext cx="164592" cy="164592"/>
          </a:xfrm>
          <a:prstGeom prst="ellipse">
            <a:avLst/>
          </a:prstGeom>
          <a:solidFill>
            <a:srgbClr val="5C6B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2532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59552" y="229514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本引擎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2176272"/>
            <a:ext cx="402336" cy="402336"/>
          </a:xfrm>
          <a:prstGeom prst="ellipse">
            <a:avLst/>
          </a:prstGeom>
          <a:solidFill>
            <a:srgbClr val="35D6FF">
              <a:alpha val="25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18888" y="4315968"/>
            <a:ext cx="3657600" cy="310896"/>
          </a:xfrm>
          <a:prstGeom prst="roundRect">
            <a:avLst>
              <a:gd name="adj" fmla="val 14706"/>
            </a:avLst>
          </a:prstGeom>
          <a:solidFill>
            <a:srgbClr val="E4FBF1"/>
          </a:solidFill>
          <a:ln w="9525">
            <a:solidFill>
              <a:srgbClr val="3BE0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43159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本引擎 = 浏览器 × 完整引擎 的唯一交点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/ 当前状态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当前状态一览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全量交付 + v2 Q1/Q5 已完成，50 个 smoke · 1596 断言全绿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463040"/>
            <a:ext cx="877824" cy="877824"/>
          </a:xfrm>
          <a:prstGeom prst="blockArc">
            <a:avLst>
              <a:gd name="adj1" fmla="val 16200000"/>
              <a:gd name="adj2" fmla="val 11880000"/>
              <a:gd name="adj3" fmla="val 11000"/>
            </a:avLst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3D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88592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0304" y="1463040"/>
            <a:ext cx="877824" cy="877824"/>
          </a:xfrm>
          <a:prstGeom prst="blockArc">
            <a:avLst>
              <a:gd name="adj1" fmla="val 16200000"/>
              <a:gd name="adj2" fmla="val 16920000"/>
              <a:gd name="adj3" fmla="val 11000"/>
            </a:avLst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7152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88592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24000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音频/网络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19984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1696" y="1463040"/>
            <a:ext cx="877824" cy="877824"/>
          </a:xfrm>
          <a:prstGeom prst="blockArc">
            <a:avLst>
              <a:gd name="adj1" fmla="val 16200000"/>
              <a:gd name="adj2" fmla="val 16920000"/>
              <a:gd name="adj3" fmla="val 11000"/>
            </a:avLst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8544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19984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55392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TAA/Hi-Z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51376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33088" y="1463040"/>
            <a:ext cx="877824" cy="877824"/>
          </a:xfrm>
          <a:prstGeom prst="blockArc">
            <a:avLst>
              <a:gd name="adj1" fmla="val 16200000"/>
              <a:gd name="adj2" fmla="val 16920000"/>
              <a:gd name="adj3" fmla="val 11000"/>
            </a:avLst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9936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51376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86784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82768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64480" y="1463040"/>
            <a:ext cx="877824" cy="877824"/>
          </a:xfrm>
          <a:prstGeom prst="blockArc">
            <a:avLst>
              <a:gd name="adj1" fmla="val 16200000"/>
              <a:gd name="adj2" fmla="val 3240000"/>
              <a:gd name="adj3" fmla="val 11000"/>
            </a:avLst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1328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82768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8176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池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14160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95872" y="1463040"/>
            <a:ext cx="877824" cy="877824"/>
          </a:xfrm>
          <a:prstGeom prst="blockArc">
            <a:avLst>
              <a:gd name="adj1" fmla="val 16200000"/>
              <a:gd name="adj2" fmla="val 16920000"/>
              <a:gd name="adj3" fmla="val 11000"/>
            </a:avLst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2720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14160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9568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多人协作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45552" y="1481328"/>
            <a:ext cx="841248" cy="841248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27264" y="1463040"/>
            <a:ext cx="877824" cy="877824"/>
          </a:xfrm>
          <a:prstGeom prst="blockArc">
            <a:avLst>
              <a:gd name="adj1" fmla="val 16200000"/>
              <a:gd name="adj2" fmla="val 16920000"/>
              <a:gd name="adj3" fmla="val 11000"/>
            </a:avLst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168249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45552" y="23957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0" y="25968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导出/游戏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3035808"/>
            <a:ext cx="8229600" cy="1700784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3163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已交付（v1 + v2 部分）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85800" y="3543300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3474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引擎源码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34747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109 个 JS 模块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" y="3790188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3721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0" y="372160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 smoke / 1596 断言 全绿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" y="4037076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3968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 Demo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0" y="396849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个（action3d / breakout / match3 / space_shooter）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" y="4283964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" y="4215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渲染后端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43200" y="4215384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RHI（完整）+ Software 黄金参考 + WebGPU（空壳）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" y="4530852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" y="4462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/ 编辑器 / 平台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743200" y="446227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GJK+EPA 刚体 · GPU 视口 · Play 模式 · OPFS / GLTF / 骨骼动画 / DDC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/ 全景架构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架构图（全景）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 → 运行时单向依赖；CPU 黄金参考永不下线；确定性可重现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 编辑器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" y="1682496"/>
            <a:ext cx="507492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682496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75588" y="1682496"/>
            <a:ext cx="507492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5588" y="1682496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74520" y="1682496"/>
            <a:ext cx="699516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682496"/>
            <a:ext cx="699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代码工作台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65476" y="1682496"/>
            <a:ext cx="411480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5476" y="16824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视口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68396" y="1682496"/>
            <a:ext cx="987552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8396" y="1682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47388" y="1682496"/>
            <a:ext cx="603504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7388" y="168249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命令面板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084832"/>
            <a:ext cx="5760720" cy="1298448"/>
          </a:xfrm>
          <a:prstGeom prst="roundRect">
            <a:avLst>
              <a:gd name="adj" fmla="val 3521"/>
            </a:avLst>
          </a:prstGeom>
          <a:solidFill>
            <a:srgbClr val="1C3357"/>
          </a:solidFill>
          <a:ln w="12700">
            <a:solidFill>
              <a:srgbClr val="1C33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运行时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" y="2468880"/>
            <a:ext cx="976579" cy="786384"/>
          </a:xfrm>
          <a:prstGeom prst="roundRect">
            <a:avLst>
              <a:gd name="adj" fmla="val 5233"/>
            </a:avLst>
          </a:prstGeom>
          <a:solidFill>
            <a:srgbClr val="0E2038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505456"/>
            <a:ext cx="866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2724912"/>
            <a:ext cx="866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· PBR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PostFX · Hi-Z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762963" y="2468880"/>
            <a:ext cx="976579" cy="786384"/>
          </a:xfrm>
          <a:prstGeom prst="roundRect">
            <a:avLst>
              <a:gd name="adj" fmla="val 5233"/>
            </a:avLst>
          </a:prstGeom>
          <a:solidFill>
            <a:srgbClr val="0E2038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7827" y="2505456"/>
            <a:ext cx="866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17827" y="2724912"/>
            <a:ext cx="866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GJK/EPA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 · Raycast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49270" y="2468880"/>
            <a:ext cx="976579" cy="786384"/>
          </a:xfrm>
          <a:prstGeom prst="roundRect">
            <a:avLst>
              <a:gd name="adj" fmla="val 5233"/>
            </a:avLst>
          </a:prstGeom>
          <a:solidFill>
            <a:srgbClr val="0E2038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4134" y="2505456"/>
            <a:ext cx="866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04134" y="2724912"/>
            <a:ext cx="866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· Net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NanoTensor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935578" y="2468880"/>
            <a:ext cx="976579" cy="786384"/>
          </a:xfrm>
          <a:prstGeom prst="roundRect">
            <a:avLst>
              <a:gd name="adj" fmla="val 5233"/>
            </a:avLst>
          </a:prstGeom>
          <a:solidFill>
            <a:srgbClr val="0E2038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90442" y="2505456"/>
            <a:ext cx="866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90442" y="2724912"/>
            <a:ext cx="866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GLTF · Image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DDC · Cache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1885" y="2468880"/>
            <a:ext cx="976579" cy="786384"/>
          </a:xfrm>
          <a:prstGeom prst="roundRect">
            <a:avLst>
              <a:gd name="adj" fmla="val 5233"/>
            </a:avLst>
          </a:prstGeom>
          <a:solidFill>
            <a:srgbClr val="0E2038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6749" y="2505456"/>
            <a:ext cx="866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EditorCode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6749" y="2724912"/>
            <a:ext cx="86685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 · Debug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468880" y="2130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GameRuntime · ScriptEngine · PlaySession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56432"/>
            <a:ext cx="5760720" cy="713232"/>
          </a:xfrm>
          <a:prstGeom prst="roundRect">
            <a:avLst>
              <a:gd name="adj" fmla="val 6410"/>
            </a:avLst>
          </a:prstGeom>
          <a:solidFill>
            <a:srgbClr val="22406B"/>
          </a:solidFill>
          <a:ln w="12700">
            <a:solidFill>
              <a:srgbClr val="2240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核心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76656" y="3840480"/>
            <a:ext cx="411480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179576" y="3840480"/>
            <a:ext cx="507492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9576" y="3840480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78508" y="3840480"/>
            <a:ext cx="603504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78508" y="384048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473452" y="3840480"/>
            <a:ext cx="987552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73452" y="384048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52444" y="3840480"/>
            <a:ext cx="507492" cy="256032"/>
          </a:xfrm>
          <a:prstGeom prst="roundRect">
            <a:avLst>
              <a:gd name="adj" fmla="val 16071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52444" y="3840480"/>
            <a:ext cx="507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55080" y="2011680"/>
            <a:ext cx="274320" cy="310896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3383280"/>
            <a:ext cx="274320" cy="310896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3712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03720" y="1298448"/>
            <a:ext cx="1783080" cy="3456432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9168" y="14264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059168" y="191109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42048" y="1773936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单后端自包含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059168" y="226771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42048" y="213055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非微服务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59168" y="262432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42048" y="248716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黄金参考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59168" y="2980944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42048" y="2843784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parity 断言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59168" y="333756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42048" y="3200400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编辑器→运行时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59168" y="369417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42048" y="3557016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59168" y="405079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42048" y="3913632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确定性可重现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059168" y="440740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42048" y="4270248"/>
            <a:ext cx="13533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key 序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RENDERING / 渲染管线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RHI 完整渲染管线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VertexLayout / FBO / MRT / MSAA / Instancing · PBR GGX · PCF 阴影 · IBL · 后处理链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243584" cy="475488"/>
          </a:xfrm>
          <a:prstGeom prst="chevron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 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77340" y="1371600"/>
            <a:ext cx="1243584" cy="475488"/>
          </a:xfrm>
          <a:prstGeom prst="chevron">
            <a:avLst/>
          </a:prstGeom>
          <a:solidFill>
            <a:srgbClr val="1B3355"/>
          </a:solidFill>
          <a:ln w="12700">
            <a:solidFill>
              <a:srgbClr val="1B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878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Geometry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243584" cy="475488"/>
          </a:xfrm>
          <a:prstGeom prst="chevron">
            <a:avLst/>
          </a:prstGeom>
          <a:solidFill>
            <a:srgbClr val="24426C"/>
          </a:solidFill>
          <a:ln w="12700">
            <a:solidFill>
              <a:srgbClr val="2442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Lighting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17620" y="1371600"/>
            <a:ext cx="1243584" cy="475488"/>
          </a:xfrm>
          <a:prstGeom prst="chevron">
            <a:avLst/>
          </a:prstGeom>
          <a:solidFill>
            <a:srgbClr val="2D5182"/>
          </a:solidFill>
          <a:ln w="12700">
            <a:solidFill>
              <a:srgbClr val="2D51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906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Shadow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1243584" cy="475488"/>
          </a:xfrm>
          <a:prstGeom prst="chevron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PostFX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7900" y="1371600"/>
            <a:ext cx="1243584" cy="475488"/>
          </a:xfrm>
          <a:prstGeom prst="chevron">
            <a:avLst/>
          </a:prstGeom>
          <a:solidFill>
            <a:srgbClr val="0AA6C9"/>
          </a:solidFill>
          <a:ln w="12700">
            <a:solidFill>
              <a:srgbClr val="0AA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934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1371600"/>
            <a:ext cx="1243584" cy="475488"/>
          </a:xfrm>
          <a:prstGeom prst="chevron">
            <a:avLst/>
          </a:prstGeom>
          <a:solidFill>
            <a:srgbClr val="35D6FF"/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37160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084832"/>
            <a:ext cx="402336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084832"/>
            <a:ext cx="82296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路径 · WebGL2 / WebGPU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" y="258318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2468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PBR GGX（Albedo/Rough/Metal/Normal/Emission）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" y="289407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27797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PCF 阴影 / 灯光表 / IBL / 雾 / 后处理链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3232" y="320497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VertexLayout / Uniform 声明表 / RGB·Float·SRGB 纹理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084832"/>
            <a:ext cx="402336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084832"/>
            <a:ext cx="82296" cy="1371600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路径 · Software 黄金参考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19472" y="258318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468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JS 光栅器，任何环境可运行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19472" y="2894076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27797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Parity 断言：WebGL2 vs Software 逐像素对比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19472" y="3204972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容差 ≤ 2/255，数值正确性可验证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358444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5844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PARITY ≤ 2/255 · 逐像素对齐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39684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待完成（Q3/Q4）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242816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C2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424281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TAA：Halton jitter + 运动矢量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63240" y="4242816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C2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1528" y="424281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Hi-Z GPU 归约 + 遮挡剔除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69280" y="4242816"/>
            <a:ext cx="3017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FFC2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87568" y="424281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后端：WGSL 双轨 + compute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3D / Q1 已完成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3D：GJK + EPA + Sequential Impulse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真实物理管线在浏览器端 100% 运行，无 WASM、无第三方库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114800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85166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373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GJK 稳健版（_resolve3/_resolve4 · 26 方向采样）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162556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48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 穿透深度（多面体扩展 · 4 面退化处理）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473452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359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 Impulse（摩擦锥 / 恢复系数 / Baumgarte）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784348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多点接触（box-plane 8 顶点采样）+ 休眠双阈值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3095244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809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形状：Box / Sphere / Capsule / Plane / Convex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40614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291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Raycast 全形状 + CharacterController（扫掠/滑墙/台阶）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3931920" cy="237744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408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测试结果（Node headless）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83480" y="17556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23560" y="17556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sim_physics3d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球-球 / 盒-盒 / 堆叠稳定 / 休眠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2185416"/>
            <a:ext cx="2834640" cy="0"/>
          </a:xfrm>
          <a:prstGeom prst="line">
            <a:avLst/>
          </a:prstGeom>
          <a:noFill/>
          <a:ln w="6350">
            <a:solidFill>
              <a:srgbClr val="D9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2128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623560" y="22128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sim_raycast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全形状 + 旋转盒 + Capsule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2642616"/>
            <a:ext cx="2834640" cy="0"/>
          </a:xfrm>
          <a:prstGeom prst="line">
            <a:avLst/>
          </a:prstGeom>
          <a:noFill/>
          <a:ln w="6350">
            <a:solidFill>
              <a:srgbClr val="D9E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623560" y="26700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sim_raycast_convex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AABB 预检 + 二分命中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23560" y="3099816"/>
            <a:ext cx="2834640" cy="0"/>
          </a:xfrm>
          <a:prstGeom prst="line">
            <a:avLst/>
          </a:prstGeom>
          <a:noFill/>
          <a:ln w="6350">
            <a:solidFill>
              <a:srgbClr val="D9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1272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623560" y="3127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sim_character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 / 台阶 / 坡度 / 碰撞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13632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13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Broad Phase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760220" y="4069080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42516" y="3913632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42516" y="3913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GJK 相交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45536" y="4069080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27832" y="3913632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27832" y="3913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 穿透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30852" y="4069080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3148" y="3913632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3148" y="3913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Seq. Impulse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16168" y="4069080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98464" y="3913632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98464" y="3913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Sleep 休眠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01484" y="4069080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83780" y="3913632"/>
            <a:ext cx="1261872" cy="45720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3780" y="39136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Character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物理管线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 / 编辑器与工具链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编辑器：打开浏览器即是完整 IDE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视口 · 检视器 · 代码工作台 · Play 模式 · Profiler · OPFS 持久化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4297680" cy="3456432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8100000">
              <a:srgbClr val="8A9BB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98448"/>
            <a:ext cx="4297680" cy="274320"/>
          </a:xfrm>
          <a:prstGeom prst="rect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389888"/>
            <a:ext cx="91440" cy="91440"/>
          </a:xfrm>
          <a:prstGeom prst="ellipse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" y="1389888"/>
            <a:ext cx="91440" cy="91440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389888"/>
            <a:ext cx="91440" cy="91440"/>
          </a:xfrm>
          <a:prstGeom prst="ellipse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C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src/editor/index.html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572768"/>
            <a:ext cx="868680" cy="2331720"/>
          </a:xfrm>
          <a:prstGeom prst="rect">
            <a:avLst/>
          </a:prstGeom>
          <a:solidFill>
            <a:srgbClr val="F7FA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783080"/>
            <a:ext cx="7315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16824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" y="1664208"/>
            <a:ext cx="795528" cy="237744"/>
          </a:xfrm>
          <a:prstGeom prst="rect">
            <a:avLst/>
          </a:prstGeom>
          <a:ln w="9525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112264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0116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" y="2441448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3408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2770632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6700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" y="3099816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6928" y="3429000"/>
            <a:ext cx="73152" cy="73152"/>
          </a:xfrm>
          <a:prstGeom prst="rect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3284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36667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25880" y="1572768"/>
            <a:ext cx="2377440" cy="2331720"/>
          </a:xfrm>
          <a:prstGeom prst="rect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2212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1836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460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1084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07080" y="1572768"/>
            <a:ext cx="0" cy="233172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2039112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2505456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2971800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3438144"/>
            <a:ext cx="2377440" cy="0"/>
          </a:xfrm>
          <a:prstGeom prst="line">
            <a:avLst/>
          </a:prstGeom>
          <a:noFill/>
          <a:ln w="6350">
            <a:solidFill>
              <a:srgbClr val="1E34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5880" y="3018434"/>
            <a:ext cx="2377440" cy="0"/>
          </a:xfrm>
          <a:prstGeom prst="line">
            <a:avLst/>
          </a:prstGeom>
          <a:noFill/>
          <a:ln w="12700">
            <a:solidFill>
              <a:srgbClr val="33527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39112" y="2272284"/>
            <a:ext cx="855878" cy="746150"/>
          </a:xfrm>
          <a:prstGeom prst="triangle">
            <a:avLst/>
          </a:prstGeom>
          <a:solidFill>
            <a:srgbClr val="35D6FF">
              <a:alpha val="28000"/>
            </a:srgbClr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67051" y="2645359"/>
            <a:ext cx="384048" cy="0"/>
          </a:xfrm>
          <a:prstGeom prst="line">
            <a:avLst/>
          </a:prstGeom>
          <a:noFill/>
          <a:ln w="22225">
            <a:solidFill>
              <a:srgbClr val="FF7A7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467051" y="2645359"/>
            <a:ext cx="0" cy="384048"/>
          </a:xfrm>
          <a:prstGeom prst="line">
            <a:avLst/>
          </a:prstGeom>
          <a:noFill/>
          <a:ln w="22225">
            <a:solidFill>
              <a:srgbClr val="3BE08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2467051" y="2645359"/>
            <a:ext cx="274320" cy="274320"/>
          </a:xfrm>
          <a:prstGeom prst="line">
            <a:avLst/>
          </a:prstGeom>
          <a:noFill/>
          <a:ln w="22225">
            <a:solidFill>
              <a:srgbClr val="6FA8FF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380744" y="36850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93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视口 + Gizmo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03320" y="1572768"/>
            <a:ext cx="1051560" cy="2331720"/>
          </a:xfrm>
          <a:prstGeom prst="rect">
            <a:avLst/>
          </a:prstGeom>
          <a:solidFill>
            <a:srgbClr val="F7FA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76472" y="1627632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检视器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76472" y="188366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31336" y="188366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776472" y="215798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1336" y="215798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76472" y="243230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1336" y="243230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776472" y="270662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1336" y="270662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76472" y="2980944"/>
            <a:ext cx="905256" cy="219456"/>
          </a:xfrm>
          <a:prstGeom prst="roundRect">
            <a:avLst>
              <a:gd name="adj" fmla="val 14583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1336" y="2980944"/>
            <a:ext cx="795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3904488"/>
            <a:ext cx="429768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40507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2960" y="40507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⏭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97280" y="40507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280" y="4050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508760" y="4169664"/>
            <a:ext cx="3063240" cy="0"/>
          </a:xfrm>
          <a:prstGeom prst="line">
            <a:avLst/>
          </a:prstGeom>
          <a:noFill/>
          <a:ln w="25400">
            <a:solidFill>
              <a:srgbClr val="D9E3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08760" y="4169664"/>
            <a:ext cx="122529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92908" y="4128516"/>
            <a:ext cx="82296" cy="82296"/>
          </a:xfrm>
          <a:prstGeom prst="ellipse">
            <a:avLst/>
          </a:prstGeom>
          <a:solidFill>
            <a:srgbClr val="0891B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08760" y="4251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 / 动画 / 粒子生命周期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937760" y="1298448"/>
            <a:ext cx="3749040" cy="2084832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3892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编辑器功能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5166360" y="182880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49240" y="17373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视口（实时渲染 + Gizmo + 网格/坐标轴）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166360" y="209397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9240" y="2002536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 + 检视器（transform/material/particle）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166360" y="235915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49240" y="226771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撤销重做 / 命令面板 / 多场景管理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166360" y="262432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240" y="2532888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 模式：暂停 / 单步 / 热重载 / 断点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166360" y="2889504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49240" y="2798064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代码工作台：Worker 语法校验 / tokenizer 高亮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166360" y="315468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49240" y="306324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Profiler：帧时间线 / draw call / 内存面板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937760" y="3529584"/>
            <a:ext cx="3749040" cy="1225296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38928" y="3621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5166360" y="3986784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3895344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OPFS + File System Access 持久化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166360" y="425196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49240" y="4160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GLTF 2.0（.glb 往返）/ 骨骼动画 + mixer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166360" y="4517136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49240" y="4425696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图片解码 / DDC 编译缓存 / Worker 池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/ Q5 协议层已完成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池：主线程永不阻塞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通用任务协议 { id, type, payload } → { id, result | error, progress 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 / 编辑器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810512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46304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WorkerPool.submit()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任务队列 · 调度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1298448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298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#0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flipV="1">
            <a:off x="4572000" y="1481328"/>
            <a:ext cx="548640" cy="4114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755648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755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#1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892808"/>
            <a:ext cx="548640" cy="4572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2212848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212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#2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892808"/>
            <a:ext cx="548640" cy="50292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670048"/>
            <a:ext cx="0" cy="256032"/>
          </a:xfrm>
          <a:prstGeom prst="line">
            <a:avLst/>
          </a:prstGeom>
          <a:noFill/>
          <a:ln w="15875">
            <a:solidFill>
              <a:srgbClr val="3BE0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2926080"/>
            <a:ext cx="4526280" cy="0"/>
          </a:xfrm>
          <a:prstGeom prst="line">
            <a:avLst/>
          </a:prstGeom>
          <a:noFill/>
          <a:ln w="15875">
            <a:solidFill>
              <a:srgbClr val="3BE0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2331720"/>
            <a:ext cx="0" cy="594360"/>
          </a:xfrm>
          <a:prstGeom prst="line">
            <a:avLst/>
          </a:prstGeom>
          <a:noFill/>
          <a:ln w="15875">
            <a:solidFill>
              <a:srgbClr val="3BE08F"/>
            </a:solidFill>
            <a:prstDash val="solid"/>
            <a:headEnd type="triangle"/>
          </a:ln>
        </p:spPr>
      </p:sp>
      <p:sp>
        <p:nvSpPr>
          <p:cNvPr id="25" name="Text 23"/>
          <p:cNvSpPr/>
          <p:nvPr/>
        </p:nvSpPr>
        <p:spPr>
          <a:xfrm>
            <a:off x="192024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postMessage 回传：result | error | progress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32120" y="100584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FFF4DC"/>
          </a:solidFill>
          <a:ln w="9525">
            <a:solidFill>
              <a:srgbClr val="FFC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005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Transferable 零拷贝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218688"/>
            <a:ext cx="4434840" cy="1517904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种内置任务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35844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import-gltf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GLB 解析 / JSON 场景树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38039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decode-image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38039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PNG/JPEG 识别 / 尺寸提取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40233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ddc-bake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FNV1a 哈希 / 参数烘焙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42428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mesh-compress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11680" y="4242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顶点/索引压缩 / 哈希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" y="44622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4462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用户自定义函数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74920" y="3218688"/>
            <a:ext cx="361188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33101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浏览器路径  </a:t>
            </a:r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Worker + Transferable 零拷贝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4023360"/>
            <a:ext cx="3611880" cy="713232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41148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路径    </a:t>
            </a:r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顺序降级（微任务队列 / 异步语义不变）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/ 测试体系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 smoke · 1596 断言 · 全部 Node headless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无外部依赖，全量执行 ~500ms；每个模块必须配套 smoke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074920" cy="27432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6824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71216" y="1682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01568" y="1682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50208" y="16824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代表性测试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1892808"/>
            <a:ext cx="48463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Core（数学/Rng/JSON/Profiler）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71216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01568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50208" y="1920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core_smoke(31) / profiler_timeline(12)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368" y="2267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Render（RHI/PBR/Shadow/PostFX）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71216" y="2267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01568" y="2267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50208" y="2267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render_primitives(908) / render_ibl(33)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2587752"/>
            <a:ext cx="48463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615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Sim（物理/角色/粒子）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71216" y="2615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2615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50208" y="26151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sim_physics3d(21) / sim_raycast(14)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8368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Platform（GLTF/Image/Worker/Cache）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71216" y="2962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01568" y="2962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50208" y="29626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plat_worker(35) / plat_skin(22)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66928" y="3282696"/>
            <a:ext cx="4846320" cy="310896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Editor（视口/代码/Profiler/Debug）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71216" y="3310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01568" y="3310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950208" y="3310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editor_smoke(32) / editor_code(21)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58368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Game/Play（脚本/会话/推理）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871216" y="3657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01568" y="3657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50208" y="3657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play_session(10) / infer(15)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15000" y="1298448"/>
            <a:ext cx="2971800" cy="274320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1389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断言密度（覆盖热力）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97880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97880" y="1938528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1938528"/>
            <a:ext cx="361616" cy="109728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1865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97880" y="2130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97880" y="2313432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97880" y="2313432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99248" y="2240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97880" y="2505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97880" y="2688336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97880" y="2688336"/>
            <a:ext cx="378061" cy="109728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9248" y="2615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9788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97880" y="3063240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97880" y="3063240"/>
            <a:ext cx="416342" cy="109728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99248" y="2990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897880" y="3255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897880" y="3438144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97880" y="3438144"/>
            <a:ext cx="401468" cy="109728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99248" y="3364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97880" y="3630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Game/Play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897880" y="3813048"/>
            <a:ext cx="1691640" cy="109728"/>
          </a:xfrm>
          <a:prstGeom prst="roundRect">
            <a:avLst>
              <a:gd name="adj" fmla="val 41667"/>
            </a:avLst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97880" y="3813048"/>
            <a:ext cx="275729" cy="109728"/>
          </a:xfrm>
          <a:prstGeom prst="roundRect">
            <a:avLst>
              <a:gd name="adj" fmla="val 41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99248" y="37398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24528"/>
            <a:ext cx="265176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4224528"/>
            <a:ext cx="73152" cy="566928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" y="4261104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配套测试  </a:t>
            </a:r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新增功能必须配套 smoke 测试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91840" y="4224528"/>
            <a:ext cx="265176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91840" y="4224528"/>
            <a:ext cx="73152" cy="566928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56432" y="4261104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Parity 断言  </a:t>
            </a:r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vs Software 逐像素 ≤ 2/255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26480" y="4224528"/>
            <a:ext cx="2651760" cy="566928"/>
          </a:xfrm>
          <a:prstGeom prst="roundRect">
            <a:avLst>
              <a:gd name="adj" fmla="val 8871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26480" y="4224528"/>
            <a:ext cx="73152" cy="566928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91072" y="4261104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确定性断言  </a:t>
            </a:r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跨运行可重现（Rng 种子 / byte-identical）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/ 性能基准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性能基准：当前指标 → v2 目标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全部指标来自 smoke 实测（Node 22 headless），无估算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75104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" y="1975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 全量执行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文件 / 1596 断言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78608" y="1371600"/>
            <a:ext cx="1975104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908 / 1ms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706624" y="1975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render_primitives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06624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908 断言，CPU 光栅器 1ms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1975104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800ms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85216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sim_physics3d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5216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断言，含堆叠休眠收敛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78608" y="2852928"/>
            <a:ext cx="1975104" cy="1335024"/>
          </a:xfrm>
          <a:prstGeom prst="roundRect">
            <a:avLst>
              <a:gd name="adj" fmla="val 376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36ms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706624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plat_worker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06624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种任务 + 并发 + 错误路径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3840480" cy="281635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完成时目标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47488" y="1847088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8470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30 fps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36208" y="18470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· 1080p · 中端 GPU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47488" y="2423160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通过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36208" y="24231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Software 160p parity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47488" y="2999232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29992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16 ms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36208" y="29992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50MB GLB 导入 · 主线程帧时间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47488" y="3575304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EDF3F9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5753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60 fps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36208" y="35753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编辑器视口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4FBF1"/>
          </a:solidFill>
          <a:ln w="9525">
            <a:solidFill>
              <a:srgbClr val="3BE0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优化路径：Software parity 基准 → profiler 实测定位 → 分阶段优化（每一步都有回归护栏）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HIGHLIGHTS / 技术亮点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六个真正的技术差异点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不是「又一个 Three.js 封装」，而是从光栅器到物理求解器的完整自研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51790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891B2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1527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黄金参考永不下线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193852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Software 光栅器作为 parity 基准，GPU 实现逐像素对齐 ≤2/255，数值正确性可验证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151790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E9F6E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1527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确定性可重现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56432" y="193852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Rng 种子 / 序列化固定 key 序 / LF / 无时间戳 / 稳定 ID，跨运行跨平台可验证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51790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891B2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11696" y="1527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单后端自包含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91072" y="193852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非微服务：引擎+编辑器+运行时同进程，零 IPC 开销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265176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2369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E9F6E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" y="3246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零运行时依赖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" y="365760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npm install / 无构建步骤 / 纯 ES2022 / 浏览器打开即用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3090672"/>
            <a:ext cx="265176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6432" y="32369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891B2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77056" y="3246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降级策略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56432" y="365760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Web Worker 零拷贝；Node 顺序降级保持异步语义，同一套代码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26480" y="3090672"/>
            <a:ext cx="265176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323697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E9F6E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11696" y="3246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物理稳健性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91072" y="365760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GJK _resolve4 + EPA 26 方向采样 + containsOrigin 显式检查，退化不崩溃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/ v2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Q1–Q7：已完成 2 / 7 个季度目标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规模合计 ~5150 行代码 + demo；每季度目标独立可验收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7337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7337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8674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88674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0011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90011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1349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1349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2686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92686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4023" y="1225296"/>
            <a:ext cx="9013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4023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0" y="1481328"/>
            <a:ext cx="0" cy="320040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4813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3D 真实化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13432" y="14813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1481328"/>
            <a:ext cx="677179" cy="402336"/>
          </a:xfrm>
          <a:prstGeom prst="roundRect">
            <a:avLst>
              <a:gd name="adj" fmla="val 11364"/>
            </a:avLst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14813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80%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7065" y="14813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~1400 行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19385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音频输出 + 网络传输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13432" y="19385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0F4F9"/>
          </a:solidFill>
          <a:ln w="12700">
            <a:solidFill>
              <a:srgbClr val="B9C4D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313432" y="19385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7065" y="1938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~600 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23957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TAA / Hi-Z GPU 接线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13432" y="23957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0F4F9"/>
          </a:solidFill>
          <a:ln w="12700">
            <a:solidFill>
              <a:srgbClr val="B9C4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313432" y="23957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97065" y="23957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~600 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28529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真实化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13432" y="28529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0F4F9"/>
          </a:solidFill>
          <a:ln w="12700">
            <a:solidFill>
              <a:srgbClr val="B9C4D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313432" y="28529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97065" y="28529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~1000 行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33101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池化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13432" y="33101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13432" y="3310128"/>
            <a:ext cx="338589" cy="402336"/>
          </a:xfrm>
          <a:prstGeom prst="roundRect">
            <a:avLst>
              <a:gd name="adj" fmla="val 13503"/>
            </a:avLst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13432" y="33101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40%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7065" y="33101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~350 行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37673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多人协作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313432" y="37673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0F4F9"/>
          </a:solidFill>
          <a:ln w="12700">
            <a:solidFill>
              <a:srgbClr val="B9C4D2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2313432" y="37673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97065" y="37673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~900 行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42245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  </a:t>
            </a:r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静态导出 + 验收游戏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313432" y="4224528"/>
            <a:ext cx="846473" cy="402336"/>
          </a:xfrm>
          <a:prstGeom prst="roundRect">
            <a:avLst>
              <a:gd name="adj" fmla="val 11364"/>
            </a:avLst>
          </a:prstGeom>
          <a:solidFill>
            <a:srgbClr val="F0F4F9"/>
          </a:solidFill>
          <a:ln w="12700">
            <a:solidFill>
              <a:srgbClr val="B9C4D2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2313432" y="4224528"/>
            <a:ext cx="8464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97065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~300 行 + demo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/ 下一步计划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三步走：2 周 · 4 周 · 8 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近期补全 Worker 与物理接线 → 中期补齐体验层 → 远期完成平台闭环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189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· 1-2 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93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 补全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3042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GLTF / 纹理 / DDC 迁入 Worker（~200 行）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8346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346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接线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31455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GameRuntime.stepPhysics 换真世界步进（~100 行）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27248" y="2834640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371600"/>
            <a:ext cx="2651760" cy="3200400"/>
          </a:xfrm>
          <a:prstGeom prst="roundRect">
            <a:avLst>
              <a:gd name="adj" fmla="val 189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· 2-4 周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56432" y="199339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1993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56432" y="23042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音频桥 + 网络传输（~600 行）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56432" y="28346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28346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56432" y="31455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TAA / Hi-Z GPU 接线（~600 行）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61888" y="2834640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51760" cy="3200400"/>
          </a:xfrm>
          <a:prstGeom prst="roundRect">
            <a:avLst>
              <a:gd name="adj" fmla="val 189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solidFill>
            <a:srgbClr val="8A6210"/>
          </a:solidFill>
          <a:ln w="12700">
            <a:solidFill>
              <a:srgbClr val="8A62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· 4-8 周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91072" y="199339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8A62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1993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1072" y="23042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compute（~1000 行）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91072" y="28346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8A62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28346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91072" y="31455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多人协作（~900 行）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1072" y="3675888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8A62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3675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91072" y="39867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静态导出 + 验收游戏（~300 行 + demo）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681728"/>
            <a:ext cx="8229600" cy="1828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 → 玩家即点即玩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E0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2135124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116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109 模块 / 50 smoke / 1596 断言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464308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3408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个游戏 Demo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2793492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670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 RHI 完整 + PBR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3122676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9992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3D + 编辑器 + Play 模式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" y="345186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284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黄金参考 parity / 确定性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517904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D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核心承诺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38728" y="2135124"/>
            <a:ext cx="82296" cy="82296"/>
          </a:xfrm>
          <a:prstGeom prst="rect">
            <a:avLst/>
          </a:prstGeom>
          <a:solidFill>
            <a:srgbClr val="35D6FF"/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20116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浏览器端独立运行完整 3D 游戏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38728" y="2464308"/>
            <a:ext cx="82296" cy="82296"/>
          </a:xfrm>
          <a:prstGeom prst="rect">
            <a:avLst/>
          </a:prstGeom>
          <a:solidFill>
            <a:srgbClr val="35D6FF"/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23408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全部计算 100% 驻留浏览器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38728" y="2793492"/>
            <a:ext cx="82296" cy="82296"/>
          </a:xfrm>
          <a:prstGeom prst="rect">
            <a:avLst/>
          </a:prstGeom>
          <a:solidFill>
            <a:srgbClr val="35D6FF"/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2670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 Unity6 日常开发闭环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38728" y="3122676"/>
            <a:ext cx="82296" cy="82296"/>
          </a:xfrm>
          <a:prstGeom prst="rect">
            <a:avLst/>
          </a:prstGeom>
          <a:solidFill>
            <a:srgbClr val="35D6FF"/>
          </a:solidFill>
          <a:ln w="12700">
            <a:solidFill>
              <a:srgbClr val="35D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29992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零安装 · 零后端 · 零依赖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517904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27648" y="2135124"/>
            <a:ext cx="82296" cy="8229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0116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独立游戏开发 · 免费 + 秒级部署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27648" y="2464308"/>
            <a:ext cx="82296" cy="8229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3408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教育教学 · 零安装环境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27648" y="2793492"/>
            <a:ext cx="82296" cy="8229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2670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原型验证 · 无需搭服务器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3122676"/>
            <a:ext cx="82296" cy="8229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29992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 / H5 · WebGL2/WebGPU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041648"/>
            <a:ext cx="1115568" cy="457200"/>
          </a:xfrm>
          <a:prstGeom prst="chevron">
            <a:avLst/>
          </a:prstGeom>
          <a:solidFill>
            <a:srgbClr val="1C3357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0416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09344" y="4041648"/>
            <a:ext cx="1115568" cy="457200"/>
          </a:xfrm>
          <a:prstGeom prst="chevron">
            <a:avLst/>
          </a:prstGeom>
          <a:solidFill>
            <a:srgbClr val="1C3357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19072" y="40416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70048" y="4041648"/>
            <a:ext cx="1115568" cy="457200"/>
          </a:xfrm>
          <a:prstGeom prst="chevron">
            <a:avLst/>
          </a:prstGeom>
          <a:solidFill>
            <a:srgbClr val="1C3357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9776" y="40416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30752" y="4041648"/>
            <a:ext cx="1115568" cy="457200"/>
          </a:xfrm>
          <a:prstGeom prst="chevron">
            <a:avLst/>
          </a:prstGeom>
          <a:solidFill>
            <a:srgbClr val="1C3357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40416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91456" y="4041648"/>
            <a:ext cx="1115568" cy="457200"/>
          </a:xfrm>
          <a:prstGeom prst="chevron">
            <a:avLst/>
          </a:prstGeom>
          <a:solidFill>
            <a:srgbClr val="1C3357"/>
          </a:solidFill>
          <a:ln w="9525">
            <a:solidFill>
              <a:srgbClr val="2C4B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40416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52160" y="4041648"/>
            <a:ext cx="1737360" cy="457200"/>
          </a:xfrm>
          <a:prstGeom prst="chevron">
            <a:avLst/>
          </a:prstGeom>
          <a:solidFill>
            <a:srgbClr val="35D6FF"/>
          </a:solidFill>
          <a:ln w="9525">
            <a:solidFill>
              <a:srgbClr val="35D6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61888" y="4041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玩家即点即玩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OPERATOR'S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8249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操作手册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2560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从零到玩家即点即玩：启动 · 编辑 · 调试 · 测试 · 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" y="38770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分钟跑起来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320040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98064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编辑器操作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98064" y="38770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视口 / 检视器 / 快捷键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调试与测试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38770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 模式 / 热重载 / smoke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0" y="320040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13253F"/>
          </a:solidFill>
          <a:ln w="9525">
            <a:solidFill>
              <a:srgbClr val="1C33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04304" y="3602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部署与导出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04304" y="38770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静态托管 / 降级矩阵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01 / 快速上手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分钟跑起来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要求：Node ≥ 18 · 现代浏览器（Chrome / Edge / Firefox）· @tensorflow/tfjs 为可选依赖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73936"/>
            <a:ext cx="0" cy="310896"/>
          </a:xfrm>
          <a:prstGeom prst="line">
            <a:avLst/>
          </a:prstGeom>
          <a:noFill/>
          <a:ln w="1905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335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启动本地服务器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34640" y="1344168"/>
            <a:ext cx="2286000" cy="256032"/>
          </a:xfrm>
          <a:prstGeom prst="roundRect">
            <a:avLst>
              <a:gd name="adj" fmla="val 16071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344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serve.mjs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87552" y="1618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http://localhost:8080（ES module 需 http:// 而非 file://）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468880"/>
            <a:ext cx="0" cy="310896"/>
          </a:xfrm>
          <a:prstGeom prst="line">
            <a:avLst/>
          </a:prstGeom>
          <a:noFill/>
          <a:ln w="19050">
            <a:solidFill>
              <a:srgbClr val="D9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打开编辑器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2039112"/>
            <a:ext cx="2286000" cy="256032"/>
          </a:xfrm>
          <a:prstGeom prst="roundRect">
            <a:avLst>
              <a:gd name="adj" fmla="val 16071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039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87552" y="2313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src/editor/index.html —— 层级树 / 检视器 / 代码工作台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779776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163824"/>
            <a:ext cx="0" cy="310896"/>
          </a:xfrm>
          <a:prstGeom prst="line">
            <a:avLst/>
          </a:prstGeom>
          <a:noFill/>
          <a:ln w="19050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玩一个 Demo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2734056"/>
            <a:ext cx="2286000" cy="256032"/>
          </a:xfrm>
          <a:prstGeom prst="roundRect">
            <a:avLst>
              <a:gd name="adj" fmla="val 16071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27340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games/*.html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7552" y="30083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action3d / breakout / match3 / space_shooter 直接打开即玩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858768"/>
            <a:ext cx="0" cy="310896"/>
          </a:xfrm>
          <a:prstGeom prst="line">
            <a:avLst/>
          </a:prstGeom>
          <a:noFill/>
          <a:ln w="19050">
            <a:solidFill>
              <a:srgbClr val="D9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smoke 验收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834640" y="3429000"/>
            <a:ext cx="2286000" cy="256032"/>
          </a:xfrm>
          <a:prstGeom prst="roundRect">
            <a:avLst>
              <a:gd name="adj" fmla="val 16071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3429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tools/run_smoke.js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7552" y="37033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headless，无需浏览器，~500ms 全绿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169664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7552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按前缀过滤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834640" y="4123944"/>
            <a:ext cx="2286000" cy="256032"/>
          </a:xfrm>
          <a:prstGeom prst="roundRect">
            <a:avLst>
              <a:gd name="adj" fmla="val 16071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41239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tools/run_smoke.js core_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87552" y="43982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只跑 core_* 相关 smoke，快速定位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1335024"/>
            <a:ext cx="2560320" cy="155448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444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27648" y="183337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1737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≥ 18（建议 22）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27648" y="210769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任意现代浏览器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27648" y="238201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npm install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27648" y="265633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无构建步骤 · 纯 ES2022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3017520"/>
            <a:ext cx="2560320" cy="1682496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127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推理降级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327648" y="3401568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已安装 tfjs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TensorFlow.js 浏览器端推理</a:t>
            </a:r>
            <a:endParaRPr lang="en-US" sz="9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未安装 tfjs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自动降级内置 NanoTensor，smoke 必须仍然全绿（硬性要求）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02 / 编辑器操作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视口 · 检视器 · 快捷键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DOM 实现，零框架零依赖；所有面板布局与桌面 IDE 一致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3977640" cy="3383280"/>
          </a:xfrm>
          <a:prstGeom prst="roundRect">
            <a:avLst>
              <a:gd name="adj" fmla="val 1486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基础操作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91566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556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视口：实时 GPU 渲染 + Gizmo 拖拽 + 网格/坐标轴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318004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579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层级树：选中 / 多选 / 拖拽排序 / 重命名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72034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603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检视器：transform / material / particle 属性编辑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12267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6265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代码工作台：多 Tab / tokenizer 高亮 / OPFS 持久化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352501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6499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命令面板：快速检索并执行所有编辑器命令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92734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673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时间轴：动画关键帧 + 粒子生命周期编辑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329684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16966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Profiler：帧时间线 / draw call 统计 / 内存面板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298448"/>
            <a:ext cx="4069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18888" y="177393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DF3F9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7739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17739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/ 退出 Play 模式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224942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DF3F9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2494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249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热加载脚本进运行会话（不重启游戏）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18888" y="27249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DF3F9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2724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 / ▶ / ⏭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27249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 / 继续 / 单步（精确 1/60s 一帧）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456432"/>
            <a:ext cx="4069080" cy="128016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脚本调试 API（在脚本内以 this 调用）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18888" y="3803904"/>
            <a:ext cx="1289304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80390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 / despawn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99632" y="3803904"/>
            <a:ext cx="1139342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803904"/>
            <a:ext cx="11027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 / after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30414" y="3803904"/>
            <a:ext cx="689458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8702" y="3803904"/>
            <a:ext cx="652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raycast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18888" y="4114800"/>
            <a:ext cx="989381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37176" y="4114800"/>
            <a:ext cx="9528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queryRadius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99709" y="411480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17997" y="4114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distanceTo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05549" y="4114800"/>
            <a:ext cx="1139342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23837" y="4114800"/>
            <a:ext cx="11027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/ rotate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18888" y="4425696"/>
            <a:ext cx="1064362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37176" y="4425696"/>
            <a:ext cx="102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onKeyDown...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74690" y="4425696"/>
            <a:ext cx="1439266" cy="256032"/>
          </a:xfrm>
          <a:prstGeom prst="roundRect">
            <a:avLst>
              <a:gd name="adj" fmla="val 17857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92978" y="4425696"/>
            <a:ext cx="1402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this.breakpoint()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Game Engine · 宣传与操作手册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863840" y="49011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03 / 调试与测试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 模式：边调试 · 边热加载 · 边运行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游戏运行在场景深拷贝快照上，停止即回滚，编辑态零污染（红线 F）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Run (Ctrl+P)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48256" y="1536192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7984" y="1371600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改脚本 / 检视器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1536192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371600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0891B2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4488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Ctrl+S 热加载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1536192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1371600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5272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⏭ 单步 / 断点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50608" y="1536192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0336" y="1371600"/>
            <a:ext cx="1572768" cy="475488"/>
          </a:xfrm>
          <a:prstGeom prst="roundRect">
            <a:avLst>
              <a:gd name="adj" fmla="val 13462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6056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实时面板观察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084832"/>
            <a:ext cx="3977640" cy="2596896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调试工具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267462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5420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逐帧单步：暂停后精确推进 1/60s 观察状态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3022092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8895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实时面板：每个实体的 pos(x,y,z) 与脚本 log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369564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2369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监视表达式：sqrt(pos[0]^2+pos[2]^2) 即时求值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717036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5844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断点：this.breakpoint([msg]) 命中自动暂停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4064508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931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内联错误：语法错误行标红，显示「第 N 行: 错误」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4411980"/>
            <a:ext cx="82296" cy="82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2793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异常隔离：单脚本异常不影响其它脚本与编辑数据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084832"/>
            <a:ext cx="4069080" cy="2596896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测试验收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46320" y="267462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5420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tools/run_smoke.js —— 全量 50 smoke / 1596 断言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022092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支持前缀过滤：node tools/run_smoke.js sim_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369564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236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Node headless，无需浏览器，~500ms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717036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584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脚本文件约定：scripts/&lt;对象名&gt;[#槽位].js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4064508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39319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cube / sun 已预置演示脚本（沿路径移动 / 自转）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4411980"/>
            <a:ext cx="82296" cy="82296"/>
          </a:xfrm>
          <a:prstGeom prst="rect">
            <a:avLst/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4279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配套套件：debug_mode / api_extension / action3d_script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1371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67512" y="2743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04 / 部署与导出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静态托管即部署，降级矩阵保兜底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零构建产物：整个目录复制到任意静态服务器即可运行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977640" cy="22860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三种部署方式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79222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本地开发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773936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77393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serve.mjs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35915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3225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备选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2340864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234086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http.server 8080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92608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8895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生产托管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2907792"/>
            <a:ext cx="1920240" cy="329184"/>
          </a:xfrm>
          <a:prstGeom prst="roundRect">
            <a:avLst>
              <a:gd name="adj" fmla="val 13889"/>
            </a:avLst>
          </a:prstGeom>
          <a:solidFill>
            <a:srgbClr val="0B1526"/>
          </a:solidFill>
          <a:ln w="12700">
            <a:solidFill>
              <a:srgbClr val="0B15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29077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复制目录到任意静态服务器（零构建）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1298448"/>
            <a:ext cx="4069080" cy="22860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诚实降级矩阵（能力缺失不崩溃）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1792224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79222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25312" y="1901952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1792224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179222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1901952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44384" y="1792224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E4FBF1"/>
          </a:solidFill>
          <a:ln w="12700">
            <a:solidFill>
              <a:srgbClr val="E4FB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179222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Software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340864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34086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25312" y="2450592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2340864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34086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顺序降级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06640" y="2450592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44384" y="2340864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E4FBF1"/>
          </a:solidFill>
          <a:ln w="12700">
            <a:solidFill>
              <a:srgbClr val="E4FB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62672" y="234086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异步语义不变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889504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88950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TF.js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25312" y="2999232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2889504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288950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NanoTensor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406640" y="2999232"/>
            <a:ext cx="237744" cy="146304"/>
          </a:xfrm>
          <a:prstGeom prst="rightArrow">
            <a:avLst/>
          </a:prstGeom>
          <a:solidFill>
            <a:srgbClr val="93A3B5"/>
          </a:solidFill>
          <a:ln w="12700">
            <a:solidFill>
              <a:srgbClr val="93A3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44384" y="2889504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E4FBF1"/>
          </a:solidFill>
          <a:ln w="12700">
            <a:solidFill>
              <a:srgbClr val="E4FB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62672" y="2889504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 仍全绿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749040"/>
            <a:ext cx="8229600" cy="932688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3840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持久化与缓存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2468880" y="3858768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87168" y="385876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OPFS 持久化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456432" y="3858768"/>
            <a:ext cx="2093976" cy="292608"/>
          </a:xfrm>
          <a:prstGeom prst="roundRect">
            <a:avLst>
              <a:gd name="adj" fmla="val 15625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38587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 System Access API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60136" y="3858768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385876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DDC 编译缓存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47688" y="3858768"/>
            <a:ext cx="530352" cy="292608"/>
          </a:xfrm>
          <a:prstGeom prst="roundRect">
            <a:avLst>
              <a:gd name="adj" fmla="val 15625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65976" y="3858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资源缓存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87768" y="3858768"/>
            <a:ext cx="964692" cy="292608"/>
          </a:xfrm>
          <a:prstGeom prst="roundRect">
            <a:avLst>
              <a:gd name="adj" fmla="val 15625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06056" y="3858768"/>
            <a:ext cx="928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.glb 往返校验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" y="42245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/ 脚本 / 资产自动持久化，刷新浏览器不丢失工作区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Browser Game Engine — 宣传与操作手册</dc:title>
  <dc:subject>PptxGenJS Presentation</dc:subject>
  <dc:creator>Browser Game Engine</dc:creator>
  <cp:lastModifiedBy>Browser Game Engine</cp:lastModifiedBy>
  <cp:revision>1</cp:revision>
  <dcterms:created xsi:type="dcterms:W3CDTF">2026-09-04T09:30:27Z</dcterms:created>
  <dcterms:modified xsi:type="dcterms:W3CDTF">2026-09-04T09:30:27Z</dcterms:modified>
</cp:coreProperties>
</file>